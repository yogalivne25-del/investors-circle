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Dark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r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Investor's Circle TLV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udget-bot/bb3508b1-6506-5404-ae67-cc0e6ad7c68b/scratchpad/deck/image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>
              <a:alpha val="8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638648" y="685800"/>
            <a:ext cx="914400" cy="91440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38648" y="685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19202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וובינר חשיפה לייב · 20.10.2026, 20:00</a:t>
            </a:r>
            <a:endParaRPr lang="en-US" sz="14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עסקה אחת הוכיחה את השיטה.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עכשיו ההזדמנויות האלה צצות כמו פטריות אחרי הגשם.</a:t>
            </a:r>
            <a:endParaRPr lang="en-US" sz="40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מתחילים נכון בנדל"ן בתל אביב, ב-3 שלבים, בלי לנחש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Investor's Circle TLV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נעבור היום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10725912" cy="749808"/>
          </a:xfrm>
          <a:prstGeom prst="rect">
            <a:avLst/>
          </a:prstGeom>
          <a:solidFill>
            <a:srgbClr val="F8F7F4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16916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68680" y="17647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למה עכשיו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עצר אתכם עד היום, ולמה דווקא הרגע הזה בתל אביב שונה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" y="2606040"/>
            <a:ext cx="107259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0" y="26060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6791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השלבים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30175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 הדרכים המלאה: אפיון, איתור והשבחה, מימוש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520440"/>
            <a:ext cx="10725912" cy="749808"/>
          </a:xfrm>
          <a:prstGeom prst="rect">
            <a:avLst/>
          </a:prstGeom>
          <a:solidFill>
            <a:srgbClr val="F8F7F4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35204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35935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עסקה אמיתית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39319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ננתח קייס אמיתי שלנו, מספרים ותהליך מלא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" y="4434840"/>
            <a:ext cx="107259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0" y="44348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68680" y="4507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למי זה מתאים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8463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כדי שתדעו להחליט בעצמכם, בלי לחצים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10725912" cy="749808"/>
          </a:xfrm>
          <a:prstGeom prst="rect">
            <a:avLst/>
          </a:prstGeom>
          <a:solidFill>
            <a:srgbClr val="F8F7F4"/>
          </a:solidFill>
          <a:ln w="9525">
            <a:solidFill>
              <a:srgbClr val="E8E2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534924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68680" y="54223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השלב הבא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" y="57607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ממשיכים אחרי הוובינר, ומה מקבלים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בואו נדבר רגע על מה שבאמת קורה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עצר אתכם עד עכשיו?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אם משהו מפה מוכר לכם, אתם לא לבד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37744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קוראים עוד ועוד תוכן על נדל"ן, אבל לא יודעים מאיפה בדיוק מתחילים.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55080" y="169164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4420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29400" y="237744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מפחדים לטעות בהחלטה כזו גדולה, אז בסוף לא מחליטים כלום.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411480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480060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לכם הון פנוי, אבל לא ברור איך להזיז אותו נכון בלי להתפשר.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55080" y="4114800"/>
            <a:ext cx="5074920" cy="196596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4420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29400" y="480060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רואים חברים "כבר עשו את זה" ומרגישים שהרכבת נוסעת בלעדיכם.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2103120"/>
            <a:ext cx="2743200" cy="0"/>
          </a:xfrm>
          <a:prstGeom prst="line">
            <a:avLst/>
          </a:prstGeom>
          <a:noFill/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6888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D9DE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רוב המשקיעים קונים דירה ומקווים.
</a:t>
            </a:r>
            <a:pPr algn="ctr" indent="0" marL="0">
              <a:lnSpc>
                <a:spcPct val="125000"/>
              </a:lnSpc>
              <a:buNone/>
            </a:pPr>
            <a:r>
              <a:rPr lang="en-US" sz="3600" b="1" i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אנחנו בונים מפת דרכים.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470916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הוובינר הזה נבנה בשביל הרגע הזה: לא עוד תוכן כללי, אלא מפת דרכים אישית וברורה.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udget-bot/bb3508b1-6506-5404-ae67-cc0e6ad7c68b/scratchpad/deck/images/tel aviv sky l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>
              <a:alpha val="8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ההיבט הכלכלי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למה דווקא תל אביב, למה עכשיו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יש הרבה סיבות, אבל נדבר בעיקר על אחת: המספרים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291840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57400" y="24231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ביקוש שלא נעצר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37033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מחסור מובנה בקרקע פנויה מול ביקוש קבוע, יוצר לחץ מתמיד על המחירים.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2103120"/>
            <a:ext cx="3291840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24231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590288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מהערים היציבות בישראל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36008" y="37033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 אביב נחשבת לאחת הערים היציבות בעליית ערך נכסים לטווח ארוך.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91856" y="2103120"/>
            <a:ext cx="3291840" cy="292608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17736" y="24231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0456" y="3154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שוק נזיל ובטוח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66176" y="37033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ביקוש גבוה גם בהאטות שוק מייצר זמן מכירה קצר ונזילות גבוהה.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בעסקה אחת שנציג היום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249528" y="2286000"/>
            <a:ext cx="2926080" cy="19202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49528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₪1.2M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249528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הרווח בעסקה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32808" y="2286000"/>
            <a:ext cx="2926080" cy="19202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32808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632808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חודשים בלבד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16088" y="2286000"/>
            <a:ext cx="2926080" cy="19202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16088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016088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עליית ערך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4617720"/>
            <a:ext cx="8897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 לא קסם. זה שיטה. ונראה לכם אותה, שלב אחרי שלב, עכשיו.</a:t>
            </a:r>
            <a:endParaRPr lang="en-US" sz="15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התהליך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מפת הדרכים: 3 השלבים</a:t>
            </a:r>
            <a:endParaRPr lang="en-US" sz="3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594360" cy="5943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אפיון ומיקוד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שמחפשים נכסים, בונים תמונת מצב מדויקת: כמה הון באמת פנוי, מה טווח הזמן, ומה רמת הסיכון.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83112" y="3017520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ההון הפנוי האמיתי שלי להשקעה, אחרי עלויות נלוות (מס רכישה, שכר טרחה, שיפוץ)?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183112" y="367588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אני מחפש הכנסה שוטפת משכירות, או עליית ערך לטווח בינוני-ארוך?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183112" y="4334256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88536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טווח הזמן הריאלי שלי: 12 חודשים, 3 שנים, או אופק ארוך יותר?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183112" y="4992624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946904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כמה סיכון אני מוכן לקחת, ומה קורה אם התוכנית לא מתממשת בדיוק כמתוכנן?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594360" cy="5943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איתור והשבחה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תל אביב היא עיר של פערים, בין מה שנכס נמכר בו היום לבין מה שהוא יכול להיות שווה אחרי השבחה נכונה.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83112" y="3017520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קיים פער בין מחיר הנכס לערכו הפוטנציאלי, לפי עסקאות דומות באזור?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183112" y="367588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יש אפשרות ממשית להשבחה: שיפוץ, פיצול, שינוי ייעוד, או התחדשות עירונית?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183112" y="4334256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88536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המגמה התכנונית באזור, והאם יש תוכניות עתידיות שישפיעו על הערך?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183112" y="4992624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946904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יחס הסיכון-סיכוי מצדיק את ההשקעה, ביחס לאלטרנטיבות אחרות?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עסקה אמיתית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יהושע בן נון, תל אביב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נכס שנרכש מתוך זיהוי פוטנציאל תכנוני והשבחתי. לאחר תכנון וביצוע מהלך השבחה מלא, נמכר במחיר המשקף את הערך שנוצר בתהליך.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429000" cy="182880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5292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₪3.2M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רכישה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2743200"/>
            <a:ext cx="3429000" cy="182880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85292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₪4.4M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26280" y="38404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מכירה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2743200"/>
            <a:ext cx="3429000" cy="1828800"/>
          </a:xfrm>
          <a:prstGeom prst="rect">
            <a:avLst/>
          </a:prstGeom>
          <a:solidFill>
            <a:srgbClr val="FBF4E2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85292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229600" y="38404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עליית ערך ב-14 חודשים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9204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שלוש העדשות שבחנו את העסקה: כלכלית, תכנונית, עסקית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udget-bot/bb3508b1-6506-5404-ae67-cc0e6ad7c68b/scratchpad/deck/images/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D1B2A">
              <a:alpha val="2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166360" y="5029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0" b="1" dirty="0">
                <a:solidFill>
                  <a:srgbClr val="ECE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5166360" y="1737360"/>
            <a:ext cx="62938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2100" i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הרגשתי שסוף סוף מישהו בונה איתי אסטרטגיה, לא רק מוכר לי דירה.</a:t>
            </a:r>
            <a:endParaRPr lang="en-US" sz="2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2100" i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התהליך היה שקוף לגמרי, מההתחלה ועד הסוף.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11535" y="4709160"/>
            <a:ext cx="502920" cy="502920"/>
          </a:xfrm>
          <a:prstGeom prst="ellipse">
            <a:avLst/>
          </a:prstGeom>
          <a:solidFill>
            <a:srgbClr val="F8F7F4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11535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אכ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166360" y="4754880"/>
            <a:ext cx="5608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א. כהן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166360" y="5074920"/>
            <a:ext cx="5608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משקיע פרטי, לקוח The Investor's Circle</a:t>
            </a:r>
            <a:endParaRPr lang="en-US" sz="115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udget-bot/bb3508b1-6506-5404-ae67-cc0e6ad7c68b/scratchpad/deck/images/azriel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2103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2103120"/>
          </a:xfrm>
          <a:prstGeom prst="rect">
            <a:avLst/>
          </a:prstGeom>
          <a:solidFill>
            <a:srgbClr val="0D1B2A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2743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בתהליך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31520" y="594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שמעון התרסי, תל אביב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2423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בין פוטנציאל השבחה בטווח הקצר לבין אפשרויות התחדשות עירונית בטווח הבינוני והארוך.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31520" y="3429000"/>
            <a:ext cx="3429000" cy="169164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3538728"/>
            <a:ext cx="32461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₪2.8M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443984"/>
            <a:ext cx="3246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רכישה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34840" y="3429000"/>
            <a:ext cx="3429000" cy="1691640"/>
          </a:xfrm>
          <a:prstGeom prst="rect">
            <a:avLst/>
          </a:prstGeom>
          <a:solidFill>
            <a:srgbClr val="F8F7F4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26280" y="3538728"/>
            <a:ext cx="32461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₪320K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26280" y="4443984"/>
            <a:ext cx="3246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השבחה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138160" y="3429000"/>
            <a:ext cx="3429000" cy="1691640"/>
          </a:xfrm>
          <a:prstGeom prst="rect">
            <a:avLst/>
          </a:prstGeom>
          <a:solidFill>
            <a:srgbClr val="FBF4E2"/>
          </a:solidFill>
          <a:ln w="12700">
            <a:solidFill>
              <a:srgbClr val="E8E2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0" y="3538728"/>
            <a:ext cx="3246120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₪4.2M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29600" y="4443984"/>
            <a:ext cx="3246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שווי צפוי</a:t>
            </a:r>
            <a:endParaRPr lang="en-US" sz="11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udget-bot/bb3508b1-6506-5404-ae67-cc0e6ad7c68b/scratchpad/deck/images/tel aviv sky l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D1B2A">
              <a:alpha val="2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166360" y="5029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0" b="1" dirty="0">
                <a:solidFill>
                  <a:srgbClr val="ECE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5166360" y="1737360"/>
            <a:ext cx="62938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2100" i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ראיתי בדיוק את הנתונים, את הסיכונים ואת הפוטנציאל.</a:t>
            </a:r>
            <a:endParaRPr lang="en-US" sz="2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2100" i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קיבלתי החלטה מתוך ביטחון, לא מתוך לחץ.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11535" y="4709160"/>
            <a:ext cx="502920" cy="502920"/>
          </a:xfrm>
          <a:prstGeom prst="ellipse">
            <a:avLst/>
          </a:prstGeom>
          <a:solidFill>
            <a:srgbClr val="F8F7F4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11535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דל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166360" y="4754880"/>
            <a:ext cx="5608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ד. לוי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166360" y="5074920"/>
            <a:ext cx="5608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משקיעה, לקוחה The Investor's Circle</a:t>
            </a:r>
            <a:endParaRPr lang="en-US" sz="115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594360" cy="5943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מימוש ותשואה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הרכישה היא רק ההתחלה. השלב הזה קובע אם ההשקעה תישאר דירה שקניתם ומקווים, או תהפוך לתשואה אמיתית.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83112" y="3017520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המטרה היא הכנסה שוטפת (השכרה) או מימוש חד-פעמי (מכירה לאחר השבחה)?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183112" y="367588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מלווה את הביצוע בפועל: קבלן, מתכנן, עורך דין, יועץ מיסוי?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1183112" y="4334256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88536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לוח הזמנים הריאלי לביצוע ההשבחה, ומה קורה אם הוא מתארך?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183112" y="4992624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8A6E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946904"/>
            <a:ext cx="103144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מתי "מספיק טוב" כדי למכור, לעומת להמשיך להחזיק ולחכות לערך נוסף?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למי זה מתאים, ולמי לא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כדי לא לבזבז לכם זמן, בואו נהיה כנים כבר עכשיו.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solidFill>
            <a:srgbClr val="FBF4E2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מתאים לכם אם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257800" y="2788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לכם הון פנוי ואתם רוצים לתכנן נכון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57800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אתם מחפשים אסטרטגיה ארוכת טווח, לא "טיפ חם"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57800" y="41605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4160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מעניין אתכם שוק תל אביב באופן ספציפי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36792" y="2011680"/>
            <a:ext cx="5120640" cy="3749040"/>
          </a:xfrm>
          <a:prstGeom prst="rect">
            <a:avLst/>
          </a:prstGeom>
          <a:solidFill>
            <a:srgbClr val="F8F7F4"/>
          </a:solidFill>
          <a:ln w="19050">
            <a:solidFill>
              <a:srgbClr val="E8E2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כנראה לא מתאים אם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863072" y="2788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11112" y="27889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אתם מחפשים "התעשרות מהירה" בלי סיכון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63072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11112" y="34747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אין לכם שום הון פנוי או אופק להשקעה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63072" y="41605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11112" y="4160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אתם לא מוכנים לקפיצת מדרגה בחייכם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udget-bot/bb3508b1-6506-5404-ae67-cc0e6ad7c68b/scratchpad/deck/images/azriel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>
              <a:alpha val="84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286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מעביר את הוובינר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914400" y="288036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קצת עלינו, אנשים בדיוק כמוכם</a:t>
            </a:r>
            <a:endParaRPr lang="en-US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הצוות מאחורי The Investor's Circle TLV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507492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66060" y="1965960"/>
            <a:ext cx="1005840" cy="1005840"/>
          </a:xfrm>
          <a:prstGeom prst="ellipse">
            <a:avLst/>
          </a:prstGeom>
          <a:solidFill>
            <a:srgbClr val="F8F7F4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66060" y="1965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31546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מייסד ושותף מנהל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34747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דורון אפריאט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למעלה מ-15 שנות ניסיון באיתור הזדמנויות והשבחת נכסים בתל אביב, בדגש על הצפון הישן ולב העיר. כל עסקה נבחנת דרך שלוש עדשות: כלכלית, תכנונית ועסקית.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07492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2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89620" y="1965960"/>
            <a:ext cx="1005840" cy="1005840"/>
          </a:xfrm>
          <a:prstGeom prst="ellipse">
            <a:avLst/>
          </a:prstGeom>
          <a:solidFill>
            <a:srgbClr val="F8F7F4"/>
          </a:solidFill>
          <a:ln w="25400">
            <a:solidFill>
              <a:srgbClr val="B896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9620" y="1965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6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יל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31546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A6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שותף ומנהל שיווק ופיתוח עסקי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34747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יובל לב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720840" y="402336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למעלה מעשור בניהול שיווק ופיתוח עסקי, לצד פעילות מעשית בנדל"ן. מתמחה במיצוי פוטנציאל הנכס לאחר הרכישה, ובהפיכת כל לקוח למשקיע בטוח ועצמאי יותר.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השלב הבא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9164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מקבלים אחרי הוובינר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4640"/>
            <a:ext cx="3291840" cy="23774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חוברת עבודה דיגיטלית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1148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 הדרכים המלאה ב-PDF, עם הצ'ק-ליסטים מהוובינר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2834640"/>
            <a:ext cx="3291840" cy="23774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90288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הקלטת הוובינר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90288" y="41148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למי שרוצה לחזור על החומר, או פספס משהו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91856" y="2834640"/>
            <a:ext cx="3291840" cy="2377440"/>
          </a:xfrm>
          <a:prstGeom prst="rect">
            <a:avLst/>
          </a:prstGeom>
          <a:solidFill>
            <a:srgbClr val="132233"/>
          </a:solidFill>
          <a:ln w="12700">
            <a:solidFill>
              <a:srgbClr val="3A4C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0456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0456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שיחת אפיון אישית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0456" y="41148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למי שרוצה להמשיך קדימה, בלי שום התחייבות</a:t>
            </a:r>
            <a:endParaRPr lang="en-US" sz="115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4368" y="1280160"/>
            <a:ext cx="822960" cy="82296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B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84368" y="12801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D4AE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◆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תודה שהייתם איתנו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15468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עכשיו זמן לשאלות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contact@tlv-investor.com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www.tlv-investor.com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Investor's Circle TLV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914400" y="242316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371600" y="397764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LV Investors Circle">
  <a:themeElements>
    <a:clrScheme name="TLV Investors Circle">
      <a:dk1>
        <a:srgbClr val="0D1B2A"/>
      </a:dk1>
      <a:lt1>
        <a:srgbClr val="FFFFFF"/>
      </a:lt1>
      <a:dk2>
        <a:srgbClr val="1A2E42"/>
      </a:dk2>
      <a:lt2>
        <a:srgbClr val="F8F7F4"/>
      </a:lt2>
      <a:accent1>
        <a:srgbClr val="B8963E"/>
      </a:accent1>
      <a:accent2>
        <a:srgbClr val="D4AE58"/>
      </a:accent2>
      <a:accent3>
        <a:srgbClr val="8A6E2A"/>
      </a:accent3>
      <a:accent4>
        <a:srgbClr val="6B7280"/>
      </a:accent4>
      <a:accent5>
        <a:srgbClr val="9CA3AF"/>
      </a:accent5>
      <a:accent6>
        <a:srgbClr val="1A2E42"/>
      </a:accent6>
      <a:hlink>
        <a:srgbClr val="B8963E"/>
      </a:hlink>
      <a:folHlink>
        <a:srgbClr val="8A6E2A"/>
      </a:folHlink>
    </a:clrScheme>
    <a:fontScheme name="TLV Investors Circl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2026-10-13T12:00:03Z</dcterms:created>
  <dcterms:modified xsi:type="dcterms:W3CDTF">2026-10-13T12:00:03Z</dcterms:modified>
</cp:coreProperties>
</file>