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Dark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14400" y="2423160"/>
            <a:ext cx="10360152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ctr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1371600" y="3977640"/>
            <a:ext cx="944575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600" dirty="0">
                <a:solidFill>
                  <a:srgbClr val="D4A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ctr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Dark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14400" y="2880360"/>
            <a:ext cx="10360152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ctr" indent="0" marL="0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502920"/>
            <a:ext cx="1072591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r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Investor's Circle TLV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Budget-bot/bb3508b1-6506-5404-ae67-cc0e6ad7c68b/scratchpad/deck/images/her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>
              <a:alpha val="86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638648" y="685800"/>
            <a:ext cx="914400" cy="914400"/>
          </a:xfrm>
          <a:prstGeom prst="ellipse">
            <a:avLst/>
          </a:prstGeom>
          <a:solidFill>
            <a:srgbClr val="0D1B2A"/>
          </a:solidFill>
          <a:ln w="19050">
            <a:solidFill>
              <a:srgbClr val="B8963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638648" y="6858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D4AE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◆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914400" y="192024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D4A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וובינר חשיפה לייב · 20.10.2026, 20:00</a:t>
            </a:r>
            <a:endParaRPr lang="en-US" sz="14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914400" y="2423160"/>
            <a:ext cx="103601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עסקה אחת הוכיחה את השיטה.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עכשיו ההזדמנויות האלה צצות כמו פטריות אחרי הגשם.</a:t>
            </a:r>
            <a:endParaRPr lang="en-US" sz="4000" dirty="0"/>
          </a:p>
        </p:txBody>
      </p:sp>
      <p:sp>
        <p:nvSpPr>
          <p:cNvPr id="8" name="Text 0"/>
          <p:cNvSpPr/>
          <p:nvPr>
            <p:ph idx="101" type="body" hasCustomPrompt="1"/>
          </p:nvPr>
        </p:nvSpPr>
        <p:spPr>
          <a:xfrm>
            <a:off x="1371600" y="3977640"/>
            <a:ext cx="94457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A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איך מתחילים נכון בנדל"ן בתל אביב, ב-3 שלבים, בלי לנחש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612648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Investor's Circle TLV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50292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מה נעבור היום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691640"/>
            <a:ext cx="10725912" cy="749808"/>
          </a:xfrm>
          <a:prstGeom prst="rect">
            <a:avLst/>
          </a:prstGeom>
          <a:solidFill>
            <a:srgbClr val="F8F7F4"/>
          </a:solidFill>
          <a:ln w="9525">
            <a:solidFill>
              <a:srgbClr val="E8E2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0" y="1691640"/>
            <a:ext cx="914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89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68680" y="1764792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למה עכשיו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103120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עצר אתכם עד היום, ולמה דווקא הרגע הזה בתל אביב שונה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31520" y="2606040"/>
            <a:ext cx="1072591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8E2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0" y="2606040"/>
            <a:ext cx="914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89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68680" y="2679192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השלבים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3017520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מפת הדרכים המלאה: אפיון, איתור והשבחה, מימוש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31520" y="3520440"/>
            <a:ext cx="10725912" cy="749808"/>
          </a:xfrm>
          <a:prstGeom prst="rect">
            <a:avLst/>
          </a:prstGeom>
          <a:solidFill>
            <a:srgbClr val="F8F7F4"/>
          </a:solidFill>
          <a:ln w="9525">
            <a:solidFill>
              <a:srgbClr val="E8E2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0" y="3520440"/>
            <a:ext cx="914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89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68680" y="3593592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עסקה אמיתית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8680" y="3931920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ננתח קייס אמיתי שלנו, מספרים ותהליך מלא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31520" y="4434840"/>
            <a:ext cx="1072591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8E2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0" y="4434840"/>
            <a:ext cx="914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89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68680" y="4507992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למי זה מתאים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8680" y="4846320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כדי שתדעו להחליט בעצמכם, בלי לחצים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31520" y="5349240"/>
            <a:ext cx="10725912" cy="749808"/>
          </a:xfrm>
          <a:prstGeom prst="rect">
            <a:avLst/>
          </a:prstGeom>
          <a:solidFill>
            <a:srgbClr val="F8F7F4"/>
          </a:solidFill>
          <a:ln w="9525">
            <a:solidFill>
              <a:srgbClr val="E8E2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0" y="5349240"/>
            <a:ext cx="914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89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68680" y="5422392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השלב הבא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68680" y="5760720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איך ממשיכים אחרי הוובינר, ומה מקבלים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D4A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בואו נדבר רגע על מה שבאמת קורה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914400" y="2880360"/>
            <a:ext cx="1036015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מה עצר אתכם עד עכשיו?</a:t>
            </a:r>
            <a:endParaRPr lang="en-US" sz="3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50292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אם משהו מפה מוכר לכם, אתם לא לבד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691640"/>
            <a:ext cx="5074920" cy="1965960"/>
          </a:xfrm>
          <a:prstGeom prst="rect">
            <a:avLst/>
          </a:prstGeom>
          <a:solidFill>
            <a:srgbClr val="F8F7F4"/>
          </a:solidFill>
          <a:ln w="12700">
            <a:solidFill>
              <a:srgbClr val="E8E2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20640" y="1856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A6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◆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05840" y="2377440"/>
            <a:ext cx="4526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קוראים עוד ועוד תוכן על נדל"ן, אבל לא יודעים מאיפה בדיוק מתחילים.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355080" y="1691640"/>
            <a:ext cx="5074920" cy="1965960"/>
          </a:xfrm>
          <a:prstGeom prst="rect">
            <a:avLst/>
          </a:prstGeom>
          <a:solidFill>
            <a:srgbClr val="F8F7F4"/>
          </a:solidFill>
          <a:ln w="12700">
            <a:solidFill>
              <a:srgbClr val="E8E2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44200" y="1856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A6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◆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629400" y="2377440"/>
            <a:ext cx="4526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מפחדים לטעות בהחלטה כזו גדולה, אז בסוף לא מחליטים כלום.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4114800"/>
            <a:ext cx="5074920" cy="1965960"/>
          </a:xfrm>
          <a:prstGeom prst="rect">
            <a:avLst/>
          </a:prstGeom>
          <a:solidFill>
            <a:srgbClr val="F8F7F4"/>
          </a:solidFill>
          <a:ln w="12700">
            <a:solidFill>
              <a:srgbClr val="E8E2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0" y="4279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A6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◆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05840" y="4800600"/>
            <a:ext cx="4526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יש לכם הון פנוי, אבל לא ברור איך להזיז אותו נכון בלי להתפשר.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55080" y="4114800"/>
            <a:ext cx="5074920" cy="1965960"/>
          </a:xfrm>
          <a:prstGeom prst="rect">
            <a:avLst/>
          </a:prstGeom>
          <a:solidFill>
            <a:srgbClr val="F8F7F4"/>
          </a:solidFill>
          <a:ln w="12700">
            <a:solidFill>
              <a:srgbClr val="E8E2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44200" y="4279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A6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◆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629400" y="4800600"/>
            <a:ext cx="4526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רואים חברים "כבר עשו את זה" ומרגישים שהרכבת נוסעת בלעדיכם.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27448" y="2103120"/>
            <a:ext cx="2743200" cy="0"/>
          </a:xfrm>
          <a:prstGeom prst="line">
            <a:avLst/>
          </a:prstGeom>
          <a:noFill/>
          <a:ln w="25400">
            <a:solidFill>
              <a:srgbClr val="B896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468880"/>
            <a:ext cx="1036015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600" b="1" dirty="0">
                <a:solidFill>
                  <a:srgbClr val="D9D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רוב המשקיעים קונים דירה ומקווים.
</a:t>
            </a:r>
            <a:pPr algn="ctr" indent="0" marL="0">
              <a:lnSpc>
                <a:spcPct val="125000"/>
              </a:lnSpc>
              <a:buNone/>
            </a:pPr>
            <a:r>
              <a:rPr lang="en-US" sz="3600" b="1" i="1" dirty="0">
                <a:solidFill>
                  <a:srgbClr val="D4AE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אנחנו בונים מפת דרכים.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645920" y="4709160"/>
            <a:ext cx="8897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הוובינר הזה נבנה בשביל הרגע הזה: לא עוד תוכן כללי, אלא מפת דרכים אישית וברורה.</a:t>
            </a:r>
            <a:endParaRPr lang="en-US" sz="15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914400" y="2423160"/>
            <a:ext cx="103601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40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1371600" y="3977640"/>
            <a:ext cx="94457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Budget-bot/bb3508b1-6506-5404-ae67-cc0e6ad7c68b/scratchpad/deck/images/tel aviv sky lin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>
              <a:alpha val="82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228600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D4A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ההיבט הכלכלי</a:t>
            </a:r>
            <a:endParaRPr lang="en-US" sz="13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914400" y="2880360"/>
            <a:ext cx="1036015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למה דווקא תל אביב, למה עכשיו</a:t>
            </a:r>
            <a:endParaRPr lang="en-US" sz="3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50292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יש הרבה סיבות, אבל נדבר בעיקר על אחת: המספרים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2103120"/>
            <a:ext cx="3291840" cy="2926080"/>
          </a:xfrm>
          <a:prstGeom prst="rect">
            <a:avLst/>
          </a:prstGeom>
          <a:solidFill>
            <a:srgbClr val="FFFFFF"/>
          </a:solidFill>
          <a:ln w="15875">
            <a:solidFill>
              <a:srgbClr val="E8E2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57400" y="24231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B89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◆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60120" y="31546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ביקוש שלא נעצר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370332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מחסור מובנה בקרקע פנויה מול ביקוש קבוע, יוצר לחץ מתמיד על המחירים.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61688" y="2103120"/>
            <a:ext cx="3291840" cy="2926080"/>
          </a:xfrm>
          <a:prstGeom prst="rect">
            <a:avLst/>
          </a:prstGeom>
          <a:solidFill>
            <a:srgbClr val="FFFFFF"/>
          </a:solidFill>
          <a:ln w="15875">
            <a:solidFill>
              <a:srgbClr val="E8E2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87568" y="24231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B89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◆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90288" y="31546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מהערים היציבות בישראל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36008" y="370332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תל אביב נחשבת לאחת הערים היציבות בעליית ערך נכסים לטווח ארוך.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991856" y="2103120"/>
            <a:ext cx="3291840" cy="2926080"/>
          </a:xfrm>
          <a:prstGeom prst="rect">
            <a:avLst/>
          </a:prstGeom>
          <a:solidFill>
            <a:srgbClr val="FFFFFF"/>
          </a:solidFill>
          <a:ln w="15875">
            <a:solidFill>
              <a:srgbClr val="E8E2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17736" y="24231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B89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◆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8220456" y="31546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שוק נזיל ובטוח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66176" y="370332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ביקוש גבוה גם בהאטות שוק מייצר זמן מכירה קצר ונזילות גבוהה.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50" kern="0" dirty="0">
                <a:solidFill>
                  <a:srgbClr val="D4A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בעסקה אחת שנציג היום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1249528" y="2286000"/>
            <a:ext cx="2926080" cy="1920240"/>
          </a:xfrm>
          <a:prstGeom prst="rect">
            <a:avLst/>
          </a:prstGeom>
          <a:solidFill>
            <a:srgbClr val="132233"/>
          </a:solidFill>
          <a:ln w="12700">
            <a:solidFill>
              <a:srgbClr val="3A4C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49528" y="25603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4AE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₪1.2M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249528" y="35204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הרווח בעסקה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32808" y="2286000"/>
            <a:ext cx="2926080" cy="1920240"/>
          </a:xfrm>
          <a:prstGeom prst="rect">
            <a:avLst/>
          </a:prstGeom>
          <a:solidFill>
            <a:srgbClr val="132233"/>
          </a:solidFill>
          <a:ln w="12700">
            <a:solidFill>
              <a:srgbClr val="3A4C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32808" y="25603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4AE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632808" y="35204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חודשים בלבד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016088" y="2286000"/>
            <a:ext cx="2926080" cy="1920240"/>
          </a:xfrm>
          <a:prstGeom prst="rect">
            <a:avLst/>
          </a:prstGeom>
          <a:solidFill>
            <a:srgbClr val="132233"/>
          </a:solidFill>
          <a:ln w="12700">
            <a:solidFill>
              <a:srgbClr val="3A4C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16088" y="25603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4AE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+37%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8016088" y="35204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עליית ערך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45920" y="4617720"/>
            <a:ext cx="8897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D9D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זה לא קסם. זה שיטה. ונראה לכם אותה, שלב אחרי שלב, עכשיו.</a:t>
            </a:r>
            <a:endParaRPr lang="en-US" sz="1500" dirty="0"/>
          </a:p>
        </p:txBody>
      </p:sp>
      <p:sp>
        <p:nvSpPr>
          <p:cNvPr id="13" name="Text 0"/>
          <p:cNvSpPr/>
          <p:nvPr>
            <p:ph idx="100" type="title" hasCustomPrompt="1"/>
          </p:nvPr>
        </p:nvSpPr>
        <p:spPr>
          <a:xfrm>
            <a:off x="914400" y="2423160"/>
            <a:ext cx="103601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4000" dirty="0"/>
          </a:p>
        </p:txBody>
      </p:sp>
      <p:sp>
        <p:nvSpPr>
          <p:cNvPr id="14" name="Text 0"/>
          <p:cNvSpPr/>
          <p:nvPr>
            <p:ph idx="101" type="body" hasCustomPrompt="1"/>
          </p:nvPr>
        </p:nvSpPr>
        <p:spPr>
          <a:xfrm>
            <a:off x="1371600" y="3977640"/>
            <a:ext cx="94457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D4A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התהליך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914400" y="2880360"/>
            <a:ext cx="1036015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מפת הדרכים: 3 השלבים</a:t>
            </a:r>
            <a:endParaRPr lang="en-US" sz="3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594360" cy="5943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896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A6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31520" y="50292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אפיון ומיקוד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2057400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לפני שמחפשים נכסים, בונים תמונת מצב מדויקת: כמה הון באמת פנוי, מה טווח הזמן, ומה רמת הסיכון.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1183112" y="3017520"/>
            <a:ext cx="201168" cy="201168"/>
          </a:xfrm>
          <a:prstGeom prst="rect">
            <a:avLst/>
          </a:prstGeom>
          <a:solidFill>
            <a:srgbClr val="FFFFFF"/>
          </a:solidFill>
          <a:ln w="15875">
            <a:solidFill>
              <a:srgbClr val="8A6E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971800"/>
            <a:ext cx="1031443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ההון הפנוי להשקעה בתל אביב?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1183112" y="3675888"/>
            <a:ext cx="201168" cy="201168"/>
          </a:xfrm>
          <a:prstGeom prst="rect">
            <a:avLst/>
          </a:prstGeom>
          <a:solidFill>
            <a:srgbClr val="FFFFFF"/>
          </a:solidFill>
          <a:ln w="15875">
            <a:solidFill>
              <a:srgbClr val="8A6E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630168"/>
            <a:ext cx="1031443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האם אני מחפש הכנסה שוטפת משכירות, או עליית ערך משמעותית לטווח קצר או בינוני-ארוך? (תלוי סטטוס דירה יחידה או דירה להשקעה)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11183112" y="4334256"/>
            <a:ext cx="201168" cy="201168"/>
          </a:xfrm>
          <a:prstGeom prst="rect">
            <a:avLst/>
          </a:prstGeom>
          <a:solidFill>
            <a:srgbClr val="FFFFFF"/>
          </a:solidFill>
          <a:ln w="15875">
            <a:solidFill>
              <a:srgbClr val="8A6E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4288536"/>
            <a:ext cx="1031443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טווח הזמן הריאלי שלי: 18 חודשים, 3 שנים, או אופק ארוך יותר?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1183112" y="4992624"/>
            <a:ext cx="201168" cy="201168"/>
          </a:xfrm>
          <a:prstGeom prst="rect">
            <a:avLst/>
          </a:prstGeom>
          <a:solidFill>
            <a:srgbClr val="FFFFFF"/>
          </a:solidFill>
          <a:ln w="15875">
            <a:solidFill>
              <a:srgbClr val="8A6E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946904"/>
            <a:ext cx="1031443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כמה סיכון אני מוכן לקחת, ומה קורה אם התוכנית לא מתממשת בדיוק כמתוכנן?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594360" cy="5943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896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A6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31520" y="50292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איתור והשבחה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2057400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תל אביב היא עיר של פערים, בין מה שנכס נמכר בו היום לבין מה שהוא יכול להיות שווה אחרי השבחה נכונה.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1183112" y="3017520"/>
            <a:ext cx="201168" cy="201168"/>
          </a:xfrm>
          <a:prstGeom prst="rect">
            <a:avLst/>
          </a:prstGeom>
          <a:solidFill>
            <a:srgbClr val="FFFFFF"/>
          </a:solidFill>
          <a:ln w="15875">
            <a:solidFill>
              <a:srgbClr val="8A6E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971800"/>
            <a:ext cx="1031443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האם קיים פער בין מחיר הנכס לערכו הפוטנציאלי, לפי עסקאות דומות באזור?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1183112" y="3675888"/>
            <a:ext cx="201168" cy="201168"/>
          </a:xfrm>
          <a:prstGeom prst="rect">
            <a:avLst/>
          </a:prstGeom>
          <a:solidFill>
            <a:srgbClr val="FFFFFF"/>
          </a:solidFill>
          <a:ln w="15875">
            <a:solidFill>
              <a:srgbClr val="8A6E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630168"/>
            <a:ext cx="1031443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האם יש אפשרות ממשית להשבחה: שיפוץ, פיצול, או התחדשות עירונית?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11183112" y="4334256"/>
            <a:ext cx="201168" cy="201168"/>
          </a:xfrm>
          <a:prstGeom prst="rect">
            <a:avLst/>
          </a:prstGeom>
          <a:solidFill>
            <a:srgbClr val="FFFFFF"/>
          </a:solidFill>
          <a:ln w="15875">
            <a:solidFill>
              <a:srgbClr val="8A6E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4288536"/>
            <a:ext cx="1031443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המגמה התכנונית באזור, והאם יש תוכניות עתידיות שישפיעו על הערך?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1183112" y="4992624"/>
            <a:ext cx="201168" cy="201168"/>
          </a:xfrm>
          <a:prstGeom prst="rect">
            <a:avLst/>
          </a:prstGeom>
          <a:solidFill>
            <a:srgbClr val="FFFFFF"/>
          </a:solidFill>
          <a:ln w="15875">
            <a:solidFill>
              <a:srgbClr val="8A6E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946904"/>
            <a:ext cx="1031443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האם יחס הסיכון-סיכוי מצדיק את ההשקעה, ביחס לאלטרנטיבות אחרות?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8A6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עסקה אמיתית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50292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יהושע בן נון, תל אביב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נכס שנרכש מתוך זיהוי פוטנציאל תכנוני והשבחתי. לאחר תכנון וביצוע מהלך השבחה מלא, נמכר במחיר המשקף את הערך שנוצר בתהליך.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31520" y="2743200"/>
            <a:ext cx="3429000" cy="1828800"/>
          </a:xfrm>
          <a:prstGeom prst="rect">
            <a:avLst/>
          </a:prstGeom>
          <a:solidFill>
            <a:srgbClr val="F8F7F4"/>
          </a:solidFill>
          <a:ln w="12700">
            <a:solidFill>
              <a:srgbClr val="E8E2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852928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A6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₪3.2M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22960" y="384048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מחיר רכישה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34840" y="2743200"/>
            <a:ext cx="3429000" cy="1828800"/>
          </a:xfrm>
          <a:prstGeom prst="rect">
            <a:avLst/>
          </a:prstGeom>
          <a:solidFill>
            <a:srgbClr val="F8F7F4"/>
          </a:solidFill>
          <a:ln w="12700">
            <a:solidFill>
              <a:srgbClr val="E8E2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6280" y="2852928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A6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₪4.4M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26280" y="384048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מחיר מכירה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38160" y="2743200"/>
            <a:ext cx="3429000" cy="1828800"/>
          </a:xfrm>
          <a:prstGeom prst="rect">
            <a:avLst/>
          </a:prstGeom>
          <a:solidFill>
            <a:srgbClr val="FBF4E2"/>
          </a:solidFill>
          <a:ln w="12700">
            <a:solidFill>
              <a:srgbClr val="E8E2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0" y="2852928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A6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+37%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229600" y="384048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עליית ערך ב-14 חודשים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4892040"/>
            <a:ext cx="10725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A6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שלוש העדשות שבחנו את העסקה: כלכלית, תכנונית, עסקית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Budget-bot/bb3508b1-6506-5404-ae67-cc0e6ad7c68b/scratchpad/deck/images/interio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448056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480560" cy="6858000"/>
          </a:xfrm>
          <a:prstGeom prst="rect">
            <a:avLst/>
          </a:prstGeom>
          <a:solidFill>
            <a:srgbClr val="0D1B2A">
              <a:alpha val="28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5166360" y="50292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0" b="1" dirty="0">
                <a:solidFill>
                  <a:srgbClr val="ECE1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”</a:t>
            </a:r>
            <a:endParaRPr lang="en-US" sz="9000" dirty="0"/>
          </a:p>
        </p:txBody>
      </p:sp>
      <p:sp>
        <p:nvSpPr>
          <p:cNvPr id="5" name="Text 2"/>
          <p:cNvSpPr/>
          <p:nvPr/>
        </p:nvSpPr>
        <p:spPr>
          <a:xfrm>
            <a:off x="5166360" y="1737360"/>
            <a:ext cx="62938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2100" i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הרגשתי שסוף סוף מישהו בונה איתי אסטרטגיה, לא רק מוכר לי דירה.</a:t>
            </a:r>
            <a:endParaRPr lang="en-US" sz="2100" dirty="0"/>
          </a:p>
          <a:p>
            <a:pPr algn="r" indent="0" marL="0">
              <a:lnSpc>
                <a:spcPct val="135000"/>
              </a:lnSpc>
              <a:buNone/>
            </a:pPr>
            <a:r>
              <a:rPr lang="en-US" sz="2100" i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התהליך היה שקוף לגמרי, מההתחלה ועד הסוף.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10911535" y="4709160"/>
            <a:ext cx="502920" cy="502920"/>
          </a:xfrm>
          <a:prstGeom prst="ellipse">
            <a:avLst/>
          </a:prstGeom>
          <a:solidFill>
            <a:srgbClr val="F8F7F4"/>
          </a:solidFill>
          <a:ln w="19050">
            <a:solidFill>
              <a:srgbClr val="B8963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911535" y="4709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A6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אכ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166360" y="4754880"/>
            <a:ext cx="5608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א. כהן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166360" y="5074920"/>
            <a:ext cx="5608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משקיע פרטי, לקוח The Investor's Circle</a:t>
            </a:r>
            <a:endParaRPr lang="en-US" sz="1150" dirty="0"/>
          </a:p>
        </p:txBody>
      </p:sp>
      <p:sp>
        <p:nvSpPr>
          <p:cNvPr id="10" name="Text 0"/>
          <p:cNvSpPr/>
          <p:nvPr>
            <p:ph idx="100" type="title" hasCustomPrompt="1"/>
          </p:nvPr>
        </p:nvSpPr>
        <p:spPr>
          <a:xfrm>
            <a:off x="731520" y="50292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Budget-bot/bb3508b1-6506-5404-ae67-cc0e6ad7c68b/scratchpad/deck/images/azrieli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21031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2103120"/>
          </a:xfrm>
          <a:prstGeom prst="rect">
            <a:avLst/>
          </a:prstGeom>
          <a:solidFill>
            <a:srgbClr val="0D1B2A">
              <a:alpha val="6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27432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D4A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בתהליך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31520" y="59436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שמעון התרסי, תל אביב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731520" y="242316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שילוב בין פוטנציאל השבחה בטווח הקצר לבין אפשרויות התחדשות עירונית בטווח הבינוני והארוך.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731520" y="3429000"/>
            <a:ext cx="3429000" cy="1691640"/>
          </a:xfrm>
          <a:prstGeom prst="rect">
            <a:avLst/>
          </a:prstGeom>
          <a:solidFill>
            <a:srgbClr val="F8F7F4"/>
          </a:solidFill>
          <a:ln w="12700">
            <a:solidFill>
              <a:srgbClr val="E8E2D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3538728"/>
            <a:ext cx="3246120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A6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₪2.8M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822960" y="4443984"/>
            <a:ext cx="3246120" cy="592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מחיר רכישה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434840" y="3429000"/>
            <a:ext cx="3429000" cy="1691640"/>
          </a:xfrm>
          <a:prstGeom prst="rect">
            <a:avLst/>
          </a:prstGeom>
          <a:solidFill>
            <a:srgbClr val="F8F7F4"/>
          </a:solidFill>
          <a:ln w="12700">
            <a:solidFill>
              <a:srgbClr val="E8E2D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26280" y="3538728"/>
            <a:ext cx="3246120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A6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₪320K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4526280" y="4443984"/>
            <a:ext cx="3246120" cy="592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עלות השבחה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138160" y="3429000"/>
            <a:ext cx="3429000" cy="1691640"/>
          </a:xfrm>
          <a:prstGeom prst="rect">
            <a:avLst/>
          </a:prstGeom>
          <a:solidFill>
            <a:srgbClr val="FBF4E2"/>
          </a:solidFill>
          <a:ln w="12700">
            <a:solidFill>
              <a:srgbClr val="E8E2D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0" y="3538728"/>
            <a:ext cx="3246120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A6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₪4.2M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8229600" y="4443984"/>
            <a:ext cx="3246120" cy="592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שווי צפוי</a:t>
            </a:r>
            <a:endParaRPr lang="en-US" sz="1100" dirty="0"/>
          </a:p>
        </p:txBody>
      </p:sp>
      <p:sp>
        <p:nvSpPr>
          <p:cNvPr id="16" name="Text 0"/>
          <p:cNvSpPr/>
          <p:nvPr>
            <p:ph idx="100" type="title" hasCustomPrompt="1"/>
          </p:nvPr>
        </p:nvSpPr>
        <p:spPr>
          <a:xfrm>
            <a:off x="731520" y="50292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Budget-bot/bb3508b1-6506-5404-ae67-cc0e6ad7c68b/scratchpad/deck/images/tel aviv sky lin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448056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480560" cy="6858000"/>
          </a:xfrm>
          <a:prstGeom prst="rect">
            <a:avLst/>
          </a:prstGeom>
          <a:solidFill>
            <a:srgbClr val="0D1B2A">
              <a:alpha val="28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5166360" y="50292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0" b="1" dirty="0">
                <a:solidFill>
                  <a:srgbClr val="ECE1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”</a:t>
            </a:r>
            <a:endParaRPr lang="en-US" sz="9000" dirty="0"/>
          </a:p>
        </p:txBody>
      </p:sp>
      <p:sp>
        <p:nvSpPr>
          <p:cNvPr id="5" name="Text 2"/>
          <p:cNvSpPr/>
          <p:nvPr/>
        </p:nvSpPr>
        <p:spPr>
          <a:xfrm>
            <a:off x="5166360" y="1737360"/>
            <a:ext cx="62938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2100" i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ראיתי בדיוק את הנתונים, את הסיכונים ואת הפוטנציאל.</a:t>
            </a:r>
            <a:endParaRPr lang="en-US" sz="2100" dirty="0"/>
          </a:p>
          <a:p>
            <a:pPr algn="r" indent="0" marL="0">
              <a:lnSpc>
                <a:spcPct val="135000"/>
              </a:lnSpc>
              <a:buNone/>
            </a:pPr>
            <a:r>
              <a:rPr lang="en-US" sz="2100" i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קיבלתי החלטה מתוך ביטחון, לא מתוך לחץ.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10911535" y="4709160"/>
            <a:ext cx="502920" cy="502920"/>
          </a:xfrm>
          <a:prstGeom prst="ellipse">
            <a:avLst/>
          </a:prstGeom>
          <a:solidFill>
            <a:srgbClr val="F8F7F4"/>
          </a:solidFill>
          <a:ln w="19050">
            <a:solidFill>
              <a:srgbClr val="B8963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911535" y="4709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A6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דל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166360" y="4754880"/>
            <a:ext cx="5608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ד. לוי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166360" y="5074920"/>
            <a:ext cx="5608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משקיעה, לקוחה The Investor's Circle</a:t>
            </a:r>
            <a:endParaRPr lang="en-US" sz="1150" dirty="0"/>
          </a:p>
        </p:txBody>
      </p:sp>
      <p:sp>
        <p:nvSpPr>
          <p:cNvPr id="10" name="Text 0"/>
          <p:cNvSpPr/>
          <p:nvPr>
            <p:ph idx="100" type="title" hasCustomPrompt="1"/>
          </p:nvPr>
        </p:nvSpPr>
        <p:spPr>
          <a:xfrm>
            <a:off x="731520" y="50292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594360" cy="5943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896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A6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31520" y="50292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מימוש ותשואה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2057400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הרכישה היא רק ההתחלה. השלב הזה קובע אם ההשקעה תישאר דירה שקניתם ומקווים, או תהפוך לתשואה אמיתית.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1183112" y="3017520"/>
            <a:ext cx="201168" cy="201168"/>
          </a:xfrm>
          <a:prstGeom prst="rect">
            <a:avLst/>
          </a:prstGeom>
          <a:solidFill>
            <a:srgbClr val="FFFFFF"/>
          </a:solidFill>
          <a:ln w="15875">
            <a:solidFill>
              <a:srgbClr val="8A6E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971800"/>
            <a:ext cx="1031443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האם המטרה היא הכנסה שוטפת (השכרה) או מימוש חד-פעמי (מכירה לאחר השבחה)?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1183112" y="3675888"/>
            <a:ext cx="201168" cy="201168"/>
          </a:xfrm>
          <a:prstGeom prst="rect">
            <a:avLst/>
          </a:prstGeom>
          <a:solidFill>
            <a:srgbClr val="FFFFFF"/>
          </a:solidFill>
          <a:ln w="15875">
            <a:solidFill>
              <a:srgbClr val="8A6E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630168"/>
            <a:ext cx="1031443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מי מלווה את התהליך משלב האפיון הפיננסי ועד היעד, מי מלווה את הביצוע בפועל: קבלן, מתכנן, עורך דין, יועץ מיסוי?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11183112" y="4334256"/>
            <a:ext cx="201168" cy="201168"/>
          </a:xfrm>
          <a:prstGeom prst="rect">
            <a:avLst/>
          </a:prstGeom>
          <a:solidFill>
            <a:srgbClr val="FFFFFF"/>
          </a:solidFill>
          <a:ln w="15875">
            <a:solidFill>
              <a:srgbClr val="8A6E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4288536"/>
            <a:ext cx="1031443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לוח הזמנים הריאלי לביצוע ההשבחה, ומה קורה אם הוא מתארך?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1183112" y="4992624"/>
            <a:ext cx="201168" cy="201168"/>
          </a:xfrm>
          <a:prstGeom prst="rect">
            <a:avLst/>
          </a:prstGeom>
          <a:solidFill>
            <a:srgbClr val="FFFFFF"/>
          </a:solidFill>
          <a:ln w="15875">
            <a:solidFill>
              <a:srgbClr val="8A6E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946904"/>
            <a:ext cx="1031443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מתי "מספיק טוב" כדי למכור, לעומת להמשיך להחזיק ולחכות לערך נוסף?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50292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למי זה מתאים, ולמי לא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כדי לא לבזבז לכם זמן, בואו נהיה כנים כבר עכשיו.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5120640" cy="3749040"/>
          </a:xfrm>
          <a:prstGeom prst="rect">
            <a:avLst/>
          </a:prstGeom>
          <a:solidFill>
            <a:srgbClr val="FBF4E2"/>
          </a:solidFill>
          <a:ln w="19050">
            <a:solidFill>
              <a:srgbClr val="B896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100" kern="0" dirty="0">
                <a:solidFill>
                  <a:srgbClr val="8A6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מתאים לכם אם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257800" y="278892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78892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יש לכם הון פנוי ואתם רוצים לתכנן נכון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257800" y="347472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347472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אתם מחפשים אסטרטגיה ארוכת טווח, לא "טיפ חם"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257800" y="416052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416052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מעניין אתכם שוק תל אביב באופן ספציפי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36792" y="2011680"/>
            <a:ext cx="5120640" cy="3749040"/>
          </a:xfrm>
          <a:prstGeom prst="rect">
            <a:avLst/>
          </a:prstGeom>
          <a:solidFill>
            <a:srgbClr val="F8F7F4"/>
          </a:solidFill>
          <a:ln w="19050">
            <a:solidFill>
              <a:srgbClr val="E8E2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11112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כנראה לא מתאים אם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863072" y="278892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11112" y="278892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אתם מחפשים "התעשרות מהירה" בלי סיכון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863072" y="347472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611112" y="347472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אין לכם שום הון פנוי או אופק להשקעה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863072" y="416052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11112" y="416052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אתם לא מוכנים לקפיצת מדרגה בחייכם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Budget-bot/bb3508b1-6506-5404-ae67-cc0e6ad7c68b/scratchpad/deck/images/azrieli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>
              <a:alpha val="84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228600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D4A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מי מעביר את הוובינר</a:t>
            </a:r>
            <a:endParaRPr lang="en-US" sz="13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914400" y="2880360"/>
            <a:ext cx="1036015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קצת עלינו, אנשים בדיוק כמוכם</a:t>
            </a:r>
            <a:endParaRPr lang="en-US" sz="3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50292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הצוות מאחורי The Investor's Circle TLV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691640"/>
            <a:ext cx="5074920" cy="3931920"/>
          </a:xfrm>
          <a:prstGeom prst="rect">
            <a:avLst/>
          </a:prstGeom>
          <a:solidFill>
            <a:srgbClr val="FFFFFF"/>
          </a:solidFill>
          <a:ln w="15875">
            <a:solidFill>
              <a:srgbClr val="E8E2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66060" y="1965960"/>
            <a:ext cx="1005840" cy="1005840"/>
          </a:xfrm>
          <a:prstGeom prst="ellipse">
            <a:avLst/>
          </a:prstGeom>
          <a:solidFill>
            <a:srgbClr val="F8F7F4"/>
          </a:solidFill>
          <a:ln w="25400">
            <a:solidFill>
              <a:srgbClr val="B896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66060" y="19659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A6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דא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05840" y="315468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8A6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מייסד ושותף מנהל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347472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דורון אפריאט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4023360"/>
            <a:ext cx="4343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למעלה מ-15 שנות ניסיון באיתור הזדמנויות והשבחת נכסים בתל אביב, בדגש על הצפון הישן ולב העיר. כל עסקה נבחנת דרך שלוש עדשות: כלכלית, תכנונית ועסקית.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55080" y="1691640"/>
            <a:ext cx="5074920" cy="3931920"/>
          </a:xfrm>
          <a:prstGeom prst="rect">
            <a:avLst/>
          </a:prstGeom>
          <a:solidFill>
            <a:srgbClr val="FFFFFF"/>
          </a:solidFill>
          <a:ln w="15875">
            <a:solidFill>
              <a:srgbClr val="E8E2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89620" y="1965960"/>
            <a:ext cx="1005840" cy="1005840"/>
          </a:xfrm>
          <a:prstGeom prst="ellipse">
            <a:avLst/>
          </a:prstGeom>
          <a:solidFill>
            <a:srgbClr val="F8F7F4"/>
          </a:solidFill>
          <a:ln w="25400">
            <a:solidFill>
              <a:srgbClr val="B896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89620" y="19659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A6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יל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629400" y="315468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8A6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שותף ומנהל שיווק ופיתוח עסקי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29400" y="347472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יובל לב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720840" y="4023360"/>
            <a:ext cx="4343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למעלה מעשור בניהול שיווק ופיתוח עסקי, לצד פעילות מעשית בנדל"ן. מתמחה במיצוי פוטנציאל הנכס לאחר הרכישה, ובהפיכת כל לקוח למשקיע בטוח ועצמאי יותר.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18872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D4A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השלב הבא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169164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מה מקבלים אחרי הוובינר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834640"/>
            <a:ext cx="3291840" cy="2377440"/>
          </a:xfrm>
          <a:prstGeom prst="rect">
            <a:avLst/>
          </a:prstGeom>
          <a:solidFill>
            <a:srgbClr val="132233"/>
          </a:solidFill>
          <a:ln w="12700">
            <a:solidFill>
              <a:srgbClr val="3A4C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30175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B89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60120" y="36118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חוברת עבודה דיגיטלית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60120" y="41148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מפת הדרכים המלאה ב-PDF, עם הצ'ק-ליסטים מהוובינר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61688" y="2834640"/>
            <a:ext cx="3291840" cy="2377440"/>
          </a:xfrm>
          <a:prstGeom prst="rect">
            <a:avLst/>
          </a:prstGeom>
          <a:solidFill>
            <a:srgbClr val="132233"/>
          </a:solidFill>
          <a:ln w="12700">
            <a:solidFill>
              <a:srgbClr val="3A4C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90288" y="30175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B89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90288" y="36118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הקלטת הוובינר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90288" y="41148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למי שרוצה לחזור על החומר, או פספס משהו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991856" y="2834640"/>
            <a:ext cx="3291840" cy="2377440"/>
          </a:xfrm>
          <a:prstGeom prst="rect">
            <a:avLst/>
          </a:prstGeom>
          <a:solidFill>
            <a:srgbClr val="132233"/>
          </a:solidFill>
          <a:ln w="12700">
            <a:solidFill>
              <a:srgbClr val="3A4C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0456" y="30175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B89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220456" y="36118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שיחת אפיון אישית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220456" y="41148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למי שרוצה להמשיך קדימה, בלי שום התחייבות</a:t>
            </a:r>
            <a:endParaRPr lang="en-US" sz="1150" dirty="0"/>
          </a:p>
        </p:txBody>
      </p:sp>
      <p:sp>
        <p:nvSpPr>
          <p:cNvPr id="16" name="Text 0"/>
          <p:cNvSpPr/>
          <p:nvPr>
            <p:ph idx="100" type="title" hasCustomPrompt="1"/>
          </p:nvPr>
        </p:nvSpPr>
        <p:spPr>
          <a:xfrm>
            <a:off x="914400" y="2423160"/>
            <a:ext cx="103601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4000" dirty="0"/>
          </a:p>
        </p:txBody>
      </p:sp>
      <p:sp>
        <p:nvSpPr>
          <p:cNvPr id="17" name="Text 0"/>
          <p:cNvSpPr/>
          <p:nvPr>
            <p:ph idx="101" type="body" hasCustomPrompt="1"/>
          </p:nvPr>
        </p:nvSpPr>
        <p:spPr>
          <a:xfrm>
            <a:off x="1371600" y="3977640"/>
            <a:ext cx="94457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84368" y="1280160"/>
            <a:ext cx="822960" cy="822960"/>
          </a:xfrm>
          <a:prstGeom prst="ellipse">
            <a:avLst/>
          </a:prstGeom>
          <a:solidFill>
            <a:srgbClr val="0D1B2A"/>
          </a:solidFill>
          <a:ln w="19050">
            <a:solidFill>
              <a:srgbClr val="B896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84368" y="12801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20" dirty="0">
                <a:solidFill>
                  <a:srgbClr val="D4AE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◆</a:t>
            </a:r>
            <a:endParaRPr lang="en-US" sz="2520" dirty="0"/>
          </a:p>
        </p:txBody>
      </p:sp>
      <p:sp>
        <p:nvSpPr>
          <p:cNvPr id="4" name="Text 2"/>
          <p:cNvSpPr/>
          <p:nvPr/>
        </p:nvSpPr>
        <p:spPr>
          <a:xfrm>
            <a:off x="914400" y="237744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תודה שהייתם איתנו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315468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D4A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עכשיו זמן לשאלות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411480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contact@tlv-investor.com</a:t>
            </a:r>
            <a:endParaRPr lang="en-US" sz="14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www.tlv-investor.com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612648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Investor's Circle TLV</a:t>
            </a:r>
            <a:endParaRPr lang="en-US" sz="1100" dirty="0"/>
          </a:p>
        </p:txBody>
      </p:sp>
      <p:sp>
        <p:nvSpPr>
          <p:cNvPr id="8" name="Text 0"/>
          <p:cNvSpPr/>
          <p:nvPr>
            <p:ph idx="100" type="title" hasCustomPrompt="1"/>
          </p:nvPr>
        </p:nvSpPr>
        <p:spPr>
          <a:xfrm>
            <a:off x="914400" y="2423160"/>
            <a:ext cx="103601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4000" dirty="0"/>
          </a:p>
        </p:txBody>
      </p:sp>
      <p:sp>
        <p:nvSpPr>
          <p:cNvPr id="9" name="Text 0"/>
          <p:cNvSpPr/>
          <p:nvPr>
            <p:ph idx="101" type="body" hasCustomPrompt="1"/>
          </p:nvPr>
        </p:nvSpPr>
        <p:spPr>
          <a:xfrm>
            <a:off x="1371600" y="3977640"/>
            <a:ext cx="94457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LV Investors Circle">
  <a:themeElements>
    <a:clrScheme name="TLV Investors Circle">
      <a:dk1>
        <a:srgbClr val="0D1B2A"/>
      </a:dk1>
      <a:lt1>
        <a:srgbClr val="FFFFFF"/>
      </a:lt1>
      <a:dk2>
        <a:srgbClr val="1A2E42"/>
      </a:dk2>
      <a:lt2>
        <a:srgbClr val="F8F7F4"/>
      </a:lt2>
      <a:accent1>
        <a:srgbClr val="B8963E"/>
      </a:accent1>
      <a:accent2>
        <a:srgbClr val="D4AE58"/>
      </a:accent2>
      <a:accent3>
        <a:srgbClr val="8A6E2A"/>
      </a:accent3>
      <a:accent4>
        <a:srgbClr val="6B7280"/>
      </a:accent4>
      <a:accent5>
        <a:srgbClr val="9CA3AF"/>
      </a:accent5>
      <a:accent6>
        <a:srgbClr val="1A2E42"/>
      </a:accent6>
      <a:hlink>
        <a:srgbClr val="B8963E"/>
      </a:hlink>
      <a:folHlink>
        <a:srgbClr val="8A6E2A"/>
      </a:folHlink>
    </a:clrScheme>
    <a:fontScheme name="TLV Investors Circl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2026-10-15T10:21:04Z</dcterms:created>
  <dcterms:modified xsi:type="dcterms:W3CDTF">2026-10-15T10:21:04Z</dcterms:modified>
</cp:coreProperties>
</file>